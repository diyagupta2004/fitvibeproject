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8288000" cy="10287000"/>
  <p:notesSz cx="6858000" cy="9144000"/>
  <p:embeddedFontLst>
    <p:embeddedFont>
      <p:font typeface="Gagalin" panose="020B0604020202020204" charset="0"/>
      <p:regular r:id="rId10"/>
    </p:embeddedFont>
    <p:embeddedFont>
      <p:font typeface="Lato" panose="020F0502020204030203" pitchFamily="34" charset="0"/>
      <p:regular r:id="rId11"/>
    </p:embeddedFont>
    <p:embeddedFont>
      <p:font typeface="Lato Bold" panose="020B0604020202020204" charset="0"/>
      <p:regular r:id="rId12"/>
    </p:embeddedFont>
    <p:embeddedFont>
      <p:font typeface="Open Sauce" panose="020B0604020202020204" charset="0"/>
      <p:regular r:id="rId13"/>
    </p:embeddedFont>
    <p:embeddedFont>
      <p:font typeface="Open Sauce Bold" panose="020B0604020202020204" charset="0"/>
      <p:regular r:id="rId14"/>
    </p:embeddedFont>
    <p:embeddedFont>
      <p:font typeface="Open Sauce SemiBold" panose="020B0604020202020204" charset="0"/>
      <p:regular r:id="rId15"/>
    </p:embeddedFont>
    <p:embeddedFont>
      <p:font typeface="Ovo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D38E0C-6700-431F-9E04-CCC1F5B1F511}" v="52" dt="2025-01-26T14:48:03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418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1"/>
                </a:innerShdw>
              </a:effectLst>
            </c:spPr>
          </c:dPt>
          <c:dPt>
            <c:idx val="1"/>
            <c:bubble3D val="0"/>
            <c:spPr>
              <a:pattFill prst="ltUpDiag">
                <a:fgClr>
                  <a:schemeClr val="accent2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2"/>
                </a:innerShdw>
              </a:effectLst>
            </c:spPr>
          </c:dPt>
          <c:dPt>
            <c:idx val="2"/>
            <c:bubble3D val="0"/>
            <c:spPr>
              <a:pattFill prst="ltUpDiag">
                <a:fgClr>
                  <a:schemeClr val="accent3"/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3"/>
                </a:innerShdw>
              </a:effectLst>
            </c:spPr>
          </c:dPt>
          <c:dPt>
            <c:idx val="3"/>
            <c:bubble3D val="0"/>
            <c:spPr>
              <a:pattFill prst="ltUpDiag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4"/>
                </a:innerShdw>
              </a:effectLst>
            </c:spPr>
          </c:dPt>
          <c:dPt>
            <c:idx val="4"/>
            <c:bubble3D val="0"/>
            <c:spPr>
              <a:pattFill prst="ltUpDiag">
                <a:fgClr>
                  <a:schemeClr val="accent5"/>
                </a:fgClr>
                <a:bgClr>
                  <a:schemeClr val="accent5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5"/>
                </a:innerShdw>
              </a:effectLst>
            </c:spPr>
          </c:dPt>
          <c:cat>
            <c:strRef>
              <c:f>Sheet1!$A$2:$A$6</c:f>
              <c:strCache>
                <c:ptCount val="5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5th Qtr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</c:v>
                </c:pt>
                <c:pt idx="1">
                  <c:v>5.2</c:v>
                </c:pt>
                <c:pt idx="2">
                  <c:v>5.2</c:v>
                </c:pt>
                <c:pt idx="3">
                  <c:v>5.2</c:v>
                </c:pt>
                <c:pt idx="4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21-4548-B6D1-593173D827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1"/>
                </a:innerShdw>
              </a:effectLst>
            </c:spPr>
          </c:dPt>
          <c:dPt>
            <c:idx val="1"/>
            <c:bubble3D val="0"/>
            <c:spPr>
              <a:pattFill prst="ltUpDiag">
                <a:fgClr>
                  <a:schemeClr val="accent2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2"/>
                </a:innerShdw>
              </a:effectLst>
            </c:spPr>
          </c:dPt>
          <c:dPt>
            <c:idx val="2"/>
            <c:bubble3D val="0"/>
            <c:spPr>
              <a:pattFill prst="ltUpDiag">
                <a:fgClr>
                  <a:schemeClr val="accent3"/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3"/>
                </a:innerShdw>
              </a:effectLst>
            </c:spPr>
          </c:dPt>
          <c:dPt>
            <c:idx val="3"/>
            <c:bubble3D val="0"/>
            <c:spPr>
              <a:pattFill prst="ltUpDiag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4"/>
                </a:innerShdw>
              </a:effectLst>
            </c:spPr>
          </c:dPt>
          <c:dPt>
            <c:idx val="4"/>
            <c:bubble3D val="0"/>
            <c:spPr>
              <a:pattFill prst="ltUpDiag">
                <a:fgClr>
                  <a:schemeClr val="accent5"/>
                </a:fgClr>
                <a:bgClr>
                  <a:schemeClr val="accent5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5"/>
                </a:innerShdw>
              </a:effectLst>
            </c:spPr>
          </c:dPt>
          <c:cat>
            <c:strRef>
              <c:f>Sheet1!$A$2:$A$6</c:f>
              <c:strCache>
                <c:ptCount val="5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5th Qtr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21-4548-B6D1-593173D827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6.41025641025641E-3"/>
          <c:y val="0.22158655702992985"/>
          <c:w val="0.96474358974358976"/>
          <c:h val="0.7784134429700702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5.2</c:v>
                </c:pt>
                <c:pt idx="1">
                  <c:v>5.2</c:v>
                </c:pt>
                <c:pt idx="3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D4-4D58-BA08-B5243C9E5A3C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0.17308</cdr:x>
      <cdr:y>0.67177</cdr:y>
    </cdr:from>
    <cdr:to>
      <cdr:x>0.92308</cdr:x>
      <cdr:y>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76ADAA7C-9621-1C6B-0034-FD27E2C4F70E}"/>
            </a:ext>
          </a:extLst>
        </cdr:cNvPr>
        <cdr:cNvSpPr txBox="1"/>
      </cdr:nvSpPr>
      <cdr:spPr>
        <a:xfrm xmlns:a="http://schemas.openxmlformats.org/drawingml/2006/main">
          <a:off x="1371600" y="3960768"/>
          <a:ext cx="5943600" cy="156966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IN" sz="1100" kern="1200" dirty="0">
            <a:solidFill>
              <a:schemeClr val="tx1">
                <a:lumMod val="95000"/>
                <a:lumOff val="5000"/>
              </a:schemeClr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0B946-D579-4E6E-8A95-F112FDAB03AE}" type="datetimeFigureOut">
              <a:rPr lang="en-IN" smtClean="0"/>
              <a:t>26-01-2025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13942-89CF-4B37-8BF1-1480F14C7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68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13942-89CF-4B37-8BF1-1480F14C78B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429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image" Target="../media/image2.pn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668383" cy="10287000"/>
          </a:xfrm>
          <a:custGeom>
            <a:avLst/>
            <a:gdLst/>
            <a:ahLst/>
            <a:cxnLst/>
            <a:rect l="l" t="t" r="r" b="b"/>
            <a:pathLst>
              <a:path w="8668383" h="10287000">
                <a:moveTo>
                  <a:pt x="0" y="0"/>
                </a:moveTo>
                <a:lnTo>
                  <a:pt x="8668383" y="0"/>
                </a:lnTo>
                <a:lnTo>
                  <a:pt x="86683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-15342" r="-33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95085" y="386080"/>
            <a:ext cx="16273106" cy="68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Emergency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61635" y="2375215"/>
            <a:ext cx="7136249" cy="7021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PS CODE:- SIH1620</a:t>
            </a:r>
          </a:p>
          <a:p>
            <a:pPr algn="ctr">
              <a:lnSpc>
                <a:spcPts val="5459"/>
              </a:lnSpc>
            </a:pPr>
            <a:endParaRPr lang="en-US" sz="3899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TEAM MEMBERS:-DIYA GUPTA</a:t>
            </a:r>
          </a:p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GHANISHA</a:t>
            </a:r>
          </a:p>
          <a:p>
            <a:pPr algn="ctr">
              <a:lnSpc>
                <a:spcPts val="5459"/>
              </a:lnSpc>
            </a:pPr>
            <a:endParaRPr lang="en-US" sz="3899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INSTITUTE NAME:-JMIT</a:t>
            </a:r>
          </a:p>
          <a:p>
            <a:pPr algn="ctr">
              <a:lnSpc>
                <a:spcPts val="5459"/>
              </a:lnSpc>
            </a:pPr>
            <a:endParaRPr lang="en-US" sz="3899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THEME NAME:-Med/Bio/Health Tech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endParaRPr lang="en-US" sz="3899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0883" y="150533"/>
            <a:ext cx="18006234" cy="9985933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-2212531" y="626851"/>
            <a:ext cx="13422789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39"/>
              </a:lnSpc>
              <a:spcBef>
                <a:spcPct val="0"/>
              </a:spcBef>
            </a:pPr>
            <a:r>
              <a:rPr lang="en-US" sz="6599" dirty="0">
                <a:solidFill>
                  <a:srgbClr val="202B3D"/>
                </a:solidFill>
                <a:latin typeface="Ovo"/>
                <a:ea typeface="Ovo"/>
                <a:cs typeface="Ovo"/>
                <a:sym typeface="Ovo"/>
              </a:rPr>
              <a:t>About the idea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7448" y="2247900"/>
            <a:ext cx="7848600" cy="6139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2499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Hospitals often struggle with a shortage of beds, particularly during busy times like flu season, emergencies, or pandemics. When patients need inpatient care, long wait times can become a major issue, leading to treatment delays, crowded emergency rooms, and higher risks for patients. The challenge lies in managing bed availability in a way that prioritizes patients based on their needs while reducing wait times and making the best use of hospital resources. </a:t>
            </a:r>
          </a:p>
          <a:p>
            <a:pPr marL="0" lvl="0" indent="0" algn="ctr">
              <a:lnSpc>
                <a:spcPts val="4399"/>
              </a:lnSpc>
            </a:pPr>
            <a:endParaRPr lang="en-US" sz="2499" dirty="0">
              <a:solidFill>
                <a:srgbClr val="202B3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043C54A-58E5-9A1F-C859-409AA27E5BA1}"/>
              </a:ext>
            </a:extLst>
          </p:cNvPr>
          <p:cNvSpPr txBox="1"/>
          <p:nvPr/>
        </p:nvSpPr>
        <p:spPr>
          <a:xfrm>
            <a:off x="11506200" y="815484"/>
            <a:ext cx="6928392" cy="104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19"/>
              </a:lnSpc>
            </a:pPr>
            <a:r>
              <a:rPr lang="en-US" sz="6575" dirty="0">
                <a:solidFill>
                  <a:srgbClr val="202B3D"/>
                </a:solidFill>
                <a:latin typeface="Ovo"/>
                <a:ea typeface="Ovo"/>
                <a:cs typeface="Ovo"/>
                <a:sym typeface="Ovo"/>
              </a:rPr>
              <a:t>Need For This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D58CC191-625D-03D9-A510-0F8408BE4829}"/>
              </a:ext>
            </a:extLst>
          </p:cNvPr>
          <p:cNvSpPr txBox="1"/>
          <p:nvPr/>
        </p:nvSpPr>
        <p:spPr>
          <a:xfrm>
            <a:off x="10298589" y="2401705"/>
            <a:ext cx="7227410" cy="4321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Hospital Bed Availability Management System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Optimizing Bed Utilization in Healthcare Facilities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Real-time Hospital Bed Count Monitoring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Efficient Bed Allocation for Enhanced Patient Care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Automated Hospital Bed Tracking Solution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Improving Healthcare Resource Management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202B3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F23413-B24F-6E7F-E981-B865A2D82CDA}"/>
              </a:ext>
            </a:extLst>
          </p:cNvPr>
          <p:cNvCxnSpPr/>
          <p:nvPr/>
        </p:nvCxnSpPr>
        <p:spPr>
          <a:xfrm>
            <a:off x="9438775" y="2401705"/>
            <a:ext cx="76200" cy="4572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0882" y="150533"/>
            <a:ext cx="18006234" cy="9985933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1000125"/>
            <a:ext cx="8115300" cy="937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01"/>
              </a:lnSpc>
            </a:pPr>
            <a:r>
              <a:rPr lang="en-US" sz="5984">
                <a:solidFill>
                  <a:srgbClr val="202B3D"/>
                </a:solidFill>
                <a:latin typeface="Ovo"/>
                <a:ea typeface="Ovo"/>
                <a:cs typeface="Ovo"/>
                <a:sym typeface="Ovo"/>
              </a:rPr>
              <a:t>Idea / approach details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58530" y="2292705"/>
            <a:ext cx="7471096" cy="692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1"/>
              </a:lnSpc>
            </a:pP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•A </a:t>
            </a:r>
            <a:r>
              <a:rPr lang="en-US" sz="2098" b="1" u="sng" dirty="0">
                <a:solidFill>
                  <a:srgbClr val="202B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Real-Time Bed Tracking System</a:t>
            </a:r>
            <a:r>
              <a:rPr lang="en-US" sz="2098" u="sng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tracks bed availability and patient status.</a:t>
            </a:r>
          </a:p>
          <a:p>
            <a:pPr algn="l">
              <a:lnSpc>
                <a:spcPts val="3441"/>
              </a:lnSpc>
            </a:pP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•A </a:t>
            </a:r>
            <a:r>
              <a:rPr lang="en-US" sz="2098" b="1" u="sng" dirty="0">
                <a:solidFill>
                  <a:srgbClr val="202B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Dynamic Bed Allocation Algorithm</a:t>
            </a:r>
            <a:r>
              <a:rPr lang="en-US" sz="2098" u="sng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prioritizes and assigns hospital beds based on real-time needs.</a:t>
            </a:r>
          </a:p>
          <a:p>
            <a:pPr algn="l">
              <a:lnSpc>
                <a:spcPts val="3441"/>
              </a:lnSpc>
            </a:pP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•</a:t>
            </a:r>
            <a:r>
              <a:rPr lang="en-US" sz="2098" b="1" u="sng" dirty="0">
                <a:solidFill>
                  <a:srgbClr val="202B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Integration with Electronic Health Records</a:t>
            </a:r>
            <a:r>
              <a:rPr lang="en-US" sz="2098" u="sng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(EHR) allows seamless access to patient data.</a:t>
            </a:r>
          </a:p>
          <a:p>
            <a:pPr algn="l">
              <a:lnSpc>
                <a:spcPts val="3441"/>
              </a:lnSpc>
            </a:pP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•</a:t>
            </a:r>
            <a:r>
              <a:rPr lang="en-US" sz="2098" b="1" u="sng" dirty="0">
                <a:solidFill>
                  <a:srgbClr val="202B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Patient Flow Optimization </a:t>
            </a: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streamlines the movement of patients through the hospital, ensuring timely admissions, transfers, and discharges for efficient care.</a:t>
            </a:r>
          </a:p>
          <a:p>
            <a:pPr algn="l">
              <a:lnSpc>
                <a:spcPts val="3441"/>
              </a:lnSpc>
            </a:pP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•</a:t>
            </a:r>
            <a:r>
              <a:rPr lang="en-US" sz="2098" b="1" u="sng" dirty="0">
                <a:solidFill>
                  <a:srgbClr val="202B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Optimizing Ambulance Dispatch and Patient Transport with Real-Time Bed Tracking</a:t>
            </a: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:-The app optimizes ambulance dispatch by tracking real-time bed availability, directing ambulances to hospitals with open capacity, reducing wait times, and ensuring quicker patient care.</a:t>
            </a:r>
          </a:p>
          <a:p>
            <a:pPr algn="l">
              <a:lnSpc>
                <a:spcPts val="3441"/>
              </a:lnSpc>
            </a:pPr>
            <a:endParaRPr lang="en-US" sz="2098" dirty="0">
              <a:solidFill>
                <a:srgbClr val="202B3D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l">
              <a:lnSpc>
                <a:spcPts val="3441"/>
              </a:lnSpc>
            </a:pPr>
            <a:endParaRPr lang="en-US" sz="2098" dirty="0">
              <a:solidFill>
                <a:srgbClr val="202B3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472933" y="994682"/>
            <a:ext cx="6345250" cy="90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79"/>
              </a:lnSpc>
            </a:pPr>
            <a:r>
              <a:rPr lang="en-US" sz="5884" dirty="0">
                <a:solidFill>
                  <a:srgbClr val="202B3D"/>
                </a:solidFill>
                <a:latin typeface="Ovo"/>
                <a:ea typeface="Ovo"/>
                <a:cs typeface="Ovo"/>
                <a:sym typeface="Ovo"/>
              </a:rPr>
              <a:t>Technology Stack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6CC7E0F-DB25-07DD-B5E9-AF38DA3AA9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233472"/>
              </p:ext>
            </p:extLst>
          </p:nvPr>
        </p:nvGraphicFramePr>
        <p:xfrm>
          <a:off x="10673758" y="2708199"/>
          <a:ext cx="5943600" cy="6420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DFCBFE6-08CA-5881-5B90-D40B38512AD0}"/>
              </a:ext>
            </a:extLst>
          </p:cNvPr>
          <p:cNvSpPr txBox="1"/>
          <p:nvPr/>
        </p:nvSpPr>
        <p:spPr>
          <a:xfrm>
            <a:off x="9143999" y="3916353"/>
            <a:ext cx="28194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Front-end</a:t>
            </a:r>
            <a:r>
              <a:rPr lang="en-US" dirty="0"/>
              <a:t>:- HTML, CSS, JS REACT ,flutter.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52EE43-84DD-2913-6C0F-9F862BA1707C}"/>
              </a:ext>
            </a:extLst>
          </p:cNvPr>
          <p:cNvSpPr txBox="1"/>
          <p:nvPr/>
        </p:nvSpPr>
        <p:spPr>
          <a:xfrm>
            <a:off x="15944423" y="3916353"/>
            <a:ext cx="229748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Back-end</a:t>
            </a:r>
            <a:r>
              <a:rPr lang="en-US" dirty="0"/>
              <a:t>:- Node.js/</a:t>
            </a:r>
            <a:r>
              <a:rPr lang="en-US" sz="1600" dirty="0"/>
              <a:t> Python</a:t>
            </a:r>
            <a:r>
              <a:rPr lang="en-US" dirty="0"/>
              <a:t>, java.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AB8A8C-58D9-80F0-E6EF-D505E66F7D9C}"/>
              </a:ext>
            </a:extLst>
          </p:cNvPr>
          <p:cNvSpPr txBox="1"/>
          <p:nvPr/>
        </p:nvSpPr>
        <p:spPr>
          <a:xfrm>
            <a:off x="9343778" y="6724589"/>
            <a:ext cx="207822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Database</a:t>
            </a:r>
            <a:r>
              <a:rPr lang="en-US" dirty="0"/>
              <a:t>:-MongoDB.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23B783-903A-DA51-69DD-EB83494B0A68}"/>
              </a:ext>
            </a:extLst>
          </p:cNvPr>
          <p:cNvSpPr txBox="1"/>
          <p:nvPr/>
        </p:nvSpPr>
        <p:spPr>
          <a:xfrm>
            <a:off x="16033835" y="6370647"/>
            <a:ext cx="191651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Cloud hosting</a:t>
            </a:r>
            <a:r>
              <a:rPr lang="en-US" dirty="0"/>
              <a:t>:-AWS/ google cloud platform.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1E2A8D-E1DD-ACBC-46DE-159EE8A39332}"/>
              </a:ext>
            </a:extLst>
          </p:cNvPr>
          <p:cNvSpPr txBox="1"/>
          <p:nvPr/>
        </p:nvSpPr>
        <p:spPr>
          <a:xfrm>
            <a:off x="12343018" y="8630165"/>
            <a:ext cx="345678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GPS &amp; Mapping</a:t>
            </a:r>
            <a:r>
              <a:rPr lang="en-US" dirty="0"/>
              <a:t>:-google maps API.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7F0CB-E8B8-5626-E6A9-A5BB52C906E9}"/>
              </a:ext>
            </a:extLst>
          </p:cNvPr>
          <p:cNvSpPr txBox="1"/>
          <p:nvPr/>
        </p:nvSpPr>
        <p:spPr>
          <a:xfrm>
            <a:off x="12343018" y="2416033"/>
            <a:ext cx="30493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AI image recognition</a:t>
            </a:r>
            <a:r>
              <a:rPr lang="en-US" dirty="0"/>
              <a:t>:-Open AI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9976" y="150533"/>
            <a:ext cx="18006234" cy="9985933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3051046" y="550052"/>
            <a:ext cx="12164095" cy="205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29"/>
              </a:lnSpc>
            </a:pPr>
            <a:r>
              <a:rPr lang="en-US" sz="5878" dirty="0">
                <a:solidFill>
                  <a:srgbClr val="202B3D"/>
                </a:solidFill>
                <a:latin typeface="Ovo"/>
                <a:ea typeface="Ovo"/>
                <a:cs typeface="Ovo"/>
                <a:sym typeface="Ovo"/>
              </a:rPr>
              <a:t>IDEA / APPROACH DETAILS</a:t>
            </a:r>
          </a:p>
          <a:p>
            <a:pPr marL="0" lvl="0" indent="0" algn="ctr">
              <a:lnSpc>
                <a:spcPts val="8229"/>
              </a:lnSpc>
              <a:spcBef>
                <a:spcPct val="0"/>
              </a:spcBef>
            </a:pPr>
            <a:endParaRPr lang="en-US" sz="5878" dirty="0">
              <a:solidFill>
                <a:srgbClr val="202B3D"/>
              </a:solidFill>
              <a:latin typeface="Ovo"/>
              <a:ea typeface="Ovo"/>
              <a:cs typeface="Ovo"/>
              <a:sym typeface="Ov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137274" y="2374320"/>
            <a:ext cx="601345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02B3D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USE CASES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8BFDEF5D-BD07-8194-5350-501F110C1B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0020299"/>
              </p:ext>
            </p:extLst>
          </p:nvPr>
        </p:nvGraphicFramePr>
        <p:xfrm>
          <a:off x="5116591" y="2513213"/>
          <a:ext cx="7924800" cy="4782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2DD2EF0-82A1-5380-64EA-0346C2C1CFC6}"/>
              </a:ext>
            </a:extLst>
          </p:cNvPr>
          <p:cNvSpPr txBox="1"/>
          <p:nvPr/>
        </p:nvSpPr>
        <p:spPr>
          <a:xfrm>
            <a:off x="914400" y="3041777"/>
            <a:ext cx="5571774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Ambulance driver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:-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Lato"/>
                <a:cs typeface="Lato"/>
                <a:sym typeface="Lato"/>
              </a:rPr>
              <a:t>Uses the app to view available hospitals with open beds, select the best hospital based on proximity and capacity, and receives optimized routes for patient transport.</a:t>
            </a:r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36B37D-749C-1823-8B6F-FF6F68649826}"/>
              </a:ext>
            </a:extLst>
          </p:cNvPr>
          <p:cNvSpPr txBox="1"/>
          <p:nvPr/>
        </p:nvSpPr>
        <p:spPr>
          <a:xfrm>
            <a:off x="5802391" y="7736192"/>
            <a:ext cx="7239000" cy="2151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Hospital Bed Manager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:-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Lato"/>
                <a:cs typeface="Lato"/>
                <a:sym typeface="Lato"/>
              </a:rPr>
              <a:t>Monitors real-time bed availability, assigns beds to incoming patients, and updates the system when beds are vacated or assigned.</a:t>
            </a:r>
          </a:p>
          <a:p>
            <a:pPr algn="ctr">
              <a:lnSpc>
                <a:spcPts val="3080"/>
              </a:lnSpc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C7A9FF-9209-3D32-FC24-B5F57FD72760}"/>
              </a:ext>
            </a:extLst>
          </p:cNvPr>
          <p:cNvSpPr txBox="1"/>
          <p:nvPr/>
        </p:nvSpPr>
        <p:spPr>
          <a:xfrm>
            <a:off x="11998328" y="3232267"/>
            <a:ext cx="5899498" cy="1959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8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System (App/Software):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Lato"/>
                <a:cs typeface="Lato"/>
                <a:sym typeface="Lato"/>
              </a:rPr>
              <a:t>Provides real-time data on bed availability, hospital capacity, ambulance location, and routes, ensuring seamless communication between all actors involved.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0883" y="150533"/>
            <a:ext cx="18006234" cy="9985933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 flipV="1">
            <a:off x="2575524" y="2012395"/>
            <a:ext cx="4993209" cy="20641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7823077" y="6958986"/>
            <a:ext cx="1629207" cy="1633563"/>
          </a:xfrm>
          <a:custGeom>
            <a:avLst/>
            <a:gdLst/>
            <a:ahLst/>
            <a:cxnLst/>
            <a:rect l="l" t="t" r="r" b="b"/>
            <a:pathLst>
              <a:path w="1629207" h="1633563">
                <a:moveTo>
                  <a:pt x="0" y="0"/>
                </a:moveTo>
                <a:lnTo>
                  <a:pt x="1629207" y="0"/>
                </a:lnTo>
                <a:lnTo>
                  <a:pt x="1629207" y="1633562"/>
                </a:lnTo>
                <a:lnTo>
                  <a:pt x="0" y="1633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3817745" y="857069"/>
            <a:ext cx="2546188" cy="1939732"/>
          </a:xfrm>
          <a:custGeom>
            <a:avLst/>
            <a:gdLst/>
            <a:ahLst/>
            <a:cxnLst/>
            <a:rect l="l" t="t" r="r" b="b"/>
            <a:pathLst>
              <a:path w="2546188" h="1939732">
                <a:moveTo>
                  <a:pt x="0" y="0"/>
                </a:moveTo>
                <a:lnTo>
                  <a:pt x="2546188" y="0"/>
                </a:lnTo>
                <a:lnTo>
                  <a:pt x="2546188" y="1939733"/>
                </a:lnTo>
                <a:lnTo>
                  <a:pt x="0" y="1939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AutoShape 6"/>
          <p:cNvSpPr/>
          <p:nvPr/>
        </p:nvSpPr>
        <p:spPr>
          <a:xfrm flipV="1">
            <a:off x="9613976" y="1600292"/>
            <a:ext cx="3917716" cy="689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7" name="AutoShape 7"/>
          <p:cNvSpPr/>
          <p:nvPr/>
        </p:nvSpPr>
        <p:spPr>
          <a:xfrm flipV="1">
            <a:off x="2763271" y="2656537"/>
            <a:ext cx="5059806" cy="382586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4418691" y="3946081"/>
            <a:ext cx="1615731" cy="1333712"/>
          </a:xfrm>
          <a:custGeom>
            <a:avLst/>
            <a:gdLst/>
            <a:ahLst/>
            <a:cxnLst/>
            <a:rect l="l" t="t" r="r" b="b"/>
            <a:pathLst>
              <a:path w="1615731" h="1333712">
                <a:moveTo>
                  <a:pt x="0" y="0"/>
                </a:moveTo>
                <a:lnTo>
                  <a:pt x="1615731" y="0"/>
                </a:lnTo>
                <a:lnTo>
                  <a:pt x="1615731" y="1333713"/>
                </a:lnTo>
                <a:lnTo>
                  <a:pt x="0" y="13337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264547" y="2365117"/>
            <a:ext cx="3086100" cy="5353500"/>
            <a:chOff x="0" y="0"/>
            <a:chExt cx="812800" cy="14099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409975"/>
            </a:xfrm>
            <a:custGeom>
              <a:avLst/>
              <a:gdLst/>
              <a:ahLst/>
              <a:cxnLst/>
              <a:rect l="l" t="t" r="r" b="b"/>
              <a:pathLst>
                <a:path w="812800" h="1409975">
                  <a:moveTo>
                    <a:pt x="0" y="0"/>
                  </a:moveTo>
                  <a:lnTo>
                    <a:pt x="812800" y="0"/>
                  </a:lnTo>
                  <a:lnTo>
                    <a:pt x="812800" y="1409975"/>
                  </a:lnTo>
                  <a:lnTo>
                    <a:pt x="0" y="1409975"/>
                  </a:lnTo>
                  <a:close/>
                </a:path>
              </a:pathLst>
            </a:custGeom>
            <a:solidFill>
              <a:srgbClr val="ABDB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1457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8586" y="4086523"/>
            <a:ext cx="2274754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Ambulance driver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73452" y="3008892"/>
            <a:ext cx="1502073" cy="1144306"/>
          </a:xfrm>
          <a:custGeom>
            <a:avLst/>
            <a:gdLst/>
            <a:ahLst/>
            <a:cxnLst/>
            <a:rect l="l" t="t" r="r" b="b"/>
            <a:pathLst>
              <a:path w="1502073" h="1144306">
                <a:moveTo>
                  <a:pt x="0" y="0"/>
                </a:moveTo>
                <a:lnTo>
                  <a:pt x="1502072" y="0"/>
                </a:lnTo>
                <a:lnTo>
                  <a:pt x="1502072" y="1144306"/>
                </a:lnTo>
                <a:lnTo>
                  <a:pt x="0" y="1144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028700" y="5376993"/>
            <a:ext cx="1654526" cy="1677593"/>
          </a:xfrm>
          <a:custGeom>
            <a:avLst/>
            <a:gdLst/>
            <a:ahLst/>
            <a:cxnLst/>
            <a:rect l="l" t="t" r="r" b="b"/>
            <a:pathLst>
              <a:path w="1654526" h="1677593">
                <a:moveTo>
                  <a:pt x="0" y="0"/>
                </a:moveTo>
                <a:lnTo>
                  <a:pt x="1654526" y="0"/>
                </a:lnTo>
                <a:lnTo>
                  <a:pt x="1654526" y="1677593"/>
                </a:lnTo>
                <a:lnTo>
                  <a:pt x="0" y="16775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AutoShape 15"/>
          <p:cNvSpPr/>
          <p:nvPr/>
        </p:nvSpPr>
        <p:spPr>
          <a:xfrm>
            <a:off x="15555875" y="1724699"/>
            <a:ext cx="19634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 flipV="1">
            <a:off x="17519274" y="1724699"/>
            <a:ext cx="0" cy="242849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AutoShape 17"/>
          <p:cNvSpPr/>
          <p:nvPr/>
        </p:nvSpPr>
        <p:spPr>
          <a:xfrm>
            <a:off x="15555875" y="4153198"/>
            <a:ext cx="19634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" name="AutoShape 18"/>
          <p:cNvSpPr/>
          <p:nvPr/>
        </p:nvSpPr>
        <p:spPr>
          <a:xfrm flipV="1">
            <a:off x="15245606" y="4530486"/>
            <a:ext cx="0" cy="242849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5458974" y="5543346"/>
            <a:ext cx="1150896" cy="801442"/>
          </a:xfrm>
          <a:custGeom>
            <a:avLst/>
            <a:gdLst/>
            <a:ahLst/>
            <a:cxnLst/>
            <a:rect l="l" t="t" r="r" b="b"/>
            <a:pathLst>
              <a:path w="1150896" h="801442">
                <a:moveTo>
                  <a:pt x="0" y="0"/>
                </a:moveTo>
                <a:lnTo>
                  <a:pt x="1150896" y="0"/>
                </a:lnTo>
                <a:lnTo>
                  <a:pt x="1150896" y="801442"/>
                </a:lnTo>
                <a:lnTo>
                  <a:pt x="0" y="8014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4170816" y="6679209"/>
            <a:ext cx="2193117" cy="2193117"/>
          </a:xfrm>
          <a:custGeom>
            <a:avLst/>
            <a:gdLst/>
            <a:ahLst/>
            <a:cxnLst/>
            <a:rect l="l" t="t" r="r" b="b"/>
            <a:pathLst>
              <a:path w="2193117" h="2193117">
                <a:moveTo>
                  <a:pt x="0" y="0"/>
                </a:moveTo>
                <a:lnTo>
                  <a:pt x="2193117" y="0"/>
                </a:lnTo>
                <a:lnTo>
                  <a:pt x="2193117" y="2193116"/>
                </a:lnTo>
                <a:lnTo>
                  <a:pt x="0" y="219311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7823077" y="2381504"/>
            <a:ext cx="227475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Application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89179" y="2805684"/>
            <a:ext cx="227475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Hospital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8586" y="6987911"/>
            <a:ext cx="227475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hospital staff</a:t>
            </a:r>
          </a:p>
        </p:txBody>
      </p:sp>
      <p:sp>
        <p:nvSpPr>
          <p:cNvPr id="24" name="TextBox 24"/>
          <p:cNvSpPr txBox="1"/>
          <p:nvPr/>
        </p:nvSpPr>
        <p:spPr>
          <a:xfrm rot="-1349860">
            <a:off x="3937028" y="2348481"/>
            <a:ext cx="2274754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Location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170816" y="8979535"/>
            <a:ext cx="2274754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AI Image 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Recognition</a:t>
            </a:r>
          </a:p>
        </p:txBody>
      </p:sp>
      <p:sp>
        <p:nvSpPr>
          <p:cNvPr id="26" name="AutoShape 26"/>
          <p:cNvSpPr/>
          <p:nvPr/>
        </p:nvSpPr>
        <p:spPr>
          <a:xfrm flipH="1" flipV="1">
            <a:off x="9452284" y="7775767"/>
            <a:ext cx="4718533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7823077" y="8805650"/>
            <a:ext cx="227475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Base</a:t>
            </a:r>
          </a:p>
        </p:txBody>
      </p:sp>
      <p:sp>
        <p:nvSpPr>
          <p:cNvPr id="28" name="AutoShape 28"/>
          <p:cNvSpPr/>
          <p:nvPr/>
        </p:nvSpPr>
        <p:spPr>
          <a:xfrm flipV="1">
            <a:off x="8541260" y="3084448"/>
            <a:ext cx="0" cy="3918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Box 29"/>
          <p:cNvSpPr txBox="1"/>
          <p:nvPr/>
        </p:nvSpPr>
        <p:spPr>
          <a:xfrm rot="-2157810">
            <a:off x="3774396" y="3685440"/>
            <a:ext cx="3530199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name of hospital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" name="AutoShape 30"/>
          <p:cNvSpPr/>
          <p:nvPr/>
        </p:nvSpPr>
        <p:spPr>
          <a:xfrm flipV="1">
            <a:off x="1498371" y="1581242"/>
            <a:ext cx="6024103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1" name="AutoShape 31"/>
          <p:cNvSpPr/>
          <p:nvPr/>
        </p:nvSpPr>
        <p:spPr>
          <a:xfrm flipH="1">
            <a:off x="1498371" y="1581377"/>
            <a:ext cx="19050" cy="7837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>
            <a:off x="7732257" y="645090"/>
            <a:ext cx="1720027" cy="1720027"/>
          </a:xfrm>
          <a:custGeom>
            <a:avLst/>
            <a:gdLst/>
            <a:ahLst/>
            <a:cxnLst/>
            <a:rect l="l" t="t" r="r" b="b"/>
            <a:pathLst>
              <a:path w="1720027" h="1720027">
                <a:moveTo>
                  <a:pt x="0" y="0"/>
                </a:moveTo>
                <a:lnTo>
                  <a:pt x="1720027" y="0"/>
                </a:lnTo>
                <a:lnTo>
                  <a:pt x="1720027" y="1720027"/>
                </a:lnTo>
                <a:lnTo>
                  <a:pt x="0" y="172002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1939" y="0"/>
            <a:ext cx="8506790" cy="10287000"/>
          </a:xfrm>
          <a:custGeom>
            <a:avLst/>
            <a:gdLst/>
            <a:ahLst/>
            <a:cxnLst/>
            <a:rect l="l" t="t" r="r" b="b"/>
            <a:pathLst>
              <a:path w="8506790" h="10287000">
                <a:moveTo>
                  <a:pt x="0" y="0"/>
                </a:moveTo>
                <a:lnTo>
                  <a:pt x="8506790" y="0"/>
                </a:lnTo>
                <a:lnTo>
                  <a:pt x="85067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751" r="-4075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8125954" y="513986"/>
            <a:ext cx="8449110" cy="150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F5F2F1"/>
                </a:solidFill>
                <a:latin typeface="Ovo"/>
                <a:ea typeface="Ovo"/>
                <a:cs typeface="Ovo"/>
                <a:sym typeface="Ovo"/>
              </a:rPr>
              <a:t>Dependencies/ show-stoppers</a:t>
            </a:r>
          </a:p>
          <a:p>
            <a:pPr marL="0" lvl="0" indent="0" algn="ctr">
              <a:lnSpc>
                <a:spcPts val="5460"/>
              </a:lnSpc>
              <a:spcBef>
                <a:spcPct val="0"/>
              </a:spcBef>
            </a:pPr>
            <a:endParaRPr lang="en-US" sz="4700">
              <a:solidFill>
                <a:srgbClr val="F5F2F1"/>
              </a:solidFill>
              <a:latin typeface="Ovo"/>
              <a:ea typeface="Ovo"/>
              <a:cs typeface="Ovo"/>
              <a:sym typeface="Ov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777277" y="2428367"/>
            <a:ext cx="9146465" cy="6829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92"/>
              </a:lnSpc>
            </a:pP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r>
              <a:rPr lang="en-US" sz="2400" b="1">
                <a:solidFill>
                  <a:srgbClr val="F5F2F1"/>
                </a:solidFill>
                <a:latin typeface="Lato Bold"/>
                <a:ea typeface="Lato Bold"/>
                <a:cs typeface="Lato Bold"/>
                <a:sym typeface="Lato Bold"/>
              </a:rPr>
              <a:t>Data Accuracy: </a:t>
            </a: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Incorrect bed availability or patient data could disrupt operations.</a:t>
            </a:r>
          </a:p>
          <a:p>
            <a:pPr algn="just">
              <a:lnSpc>
                <a:spcPts val="3792"/>
              </a:lnSpc>
            </a:pP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r>
              <a:rPr lang="en-US" sz="2400" b="1">
                <a:solidFill>
                  <a:srgbClr val="F5F2F1"/>
                </a:solidFill>
                <a:latin typeface="Lato Bold"/>
                <a:ea typeface="Lato Bold"/>
                <a:cs typeface="Lato Bold"/>
                <a:sym typeface="Lato Bold"/>
              </a:rPr>
              <a:t>GPS/Traffic Data:</a:t>
            </a: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 Inaccuracies in ambulance routing could lead to delays.</a:t>
            </a:r>
          </a:p>
          <a:p>
            <a:pPr algn="just">
              <a:lnSpc>
                <a:spcPts val="3792"/>
              </a:lnSpc>
            </a:pPr>
            <a:r>
              <a:rPr lang="en-US" sz="2400" b="1">
                <a:solidFill>
                  <a:srgbClr val="F5F2F1"/>
                </a:solidFill>
                <a:latin typeface="Lato Bold"/>
                <a:ea typeface="Lato Bold"/>
                <a:cs typeface="Lato Bold"/>
                <a:sym typeface="Lato Bold"/>
              </a:rPr>
              <a:t>•IoT Reliability:</a:t>
            </a: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 Failure of IoT devices could cause inaccurate bed status updates.</a:t>
            </a:r>
          </a:p>
          <a:p>
            <a:pPr algn="just">
              <a:lnSpc>
                <a:spcPts val="3792"/>
              </a:lnSpc>
            </a:pPr>
            <a:r>
              <a:rPr lang="en-US" sz="2400" b="1">
                <a:solidFill>
                  <a:srgbClr val="F5F2F1"/>
                </a:solidFill>
                <a:latin typeface="Lato Bold"/>
                <a:ea typeface="Lato Bold"/>
                <a:cs typeface="Lato Bold"/>
                <a:sym typeface="Lato Bold"/>
              </a:rPr>
              <a:t>•Scalability:</a:t>
            </a: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 Inability to handle high traffic during peak demand.</a:t>
            </a:r>
          </a:p>
          <a:p>
            <a:pPr algn="just">
              <a:lnSpc>
                <a:spcPts val="3792"/>
              </a:lnSpc>
            </a:pPr>
            <a:r>
              <a:rPr lang="en-US" sz="2400" b="1">
                <a:solidFill>
                  <a:srgbClr val="F5F2F1"/>
                </a:solidFill>
                <a:latin typeface="Lato Bold"/>
                <a:ea typeface="Lato Bold"/>
                <a:cs typeface="Lato Bold"/>
                <a:sym typeface="Lato Bold"/>
              </a:rPr>
              <a:t>•Mobile App Development: </a:t>
            </a: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Functional apps for real-time communication and updates.</a:t>
            </a:r>
          </a:p>
          <a:p>
            <a:pPr algn="just">
              <a:lnSpc>
                <a:spcPts val="3792"/>
              </a:lnSpc>
            </a:pPr>
            <a:r>
              <a:rPr lang="en-US" sz="2400" b="1">
                <a:solidFill>
                  <a:srgbClr val="F5F2F1"/>
                </a:solidFill>
                <a:latin typeface="Lato Bold"/>
                <a:ea typeface="Lato Bold"/>
                <a:cs typeface="Lato Bold"/>
                <a:sym typeface="Lato Bold"/>
              </a:rPr>
              <a:t>•Cloud Infrastructure:</a:t>
            </a: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 Scalable cloud platforms for data management.</a:t>
            </a:r>
          </a:p>
          <a:p>
            <a:pPr algn="just">
              <a:lnSpc>
                <a:spcPts val="3792"/>
              </a:lnSpc>
            </a:pPr>
            <a:r>
              <a:rPr lang="en-US" sz="2400" b="1">
                <a:solidFill>
                  <a:srgbClr val="F5F2F1"/>
                </a:solidFill>
                <a:latin typeface="Lato Bold"/>
                <a:ea typeface="Lato Bold"/>
                <a:cs typeface="Lato Bold"/>
                <a:sym typeface="Lato Bold"/>
              </a:rPr>
              <a:t>•Ambulance GPS Integration: </a:t>
            </a: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Accurate location and traffic data for routing optimization.</a:t>
            </a:r>
          </a:p>
          <a:p>
            <a:pPr algn="just">
              <a:lnSpc>
                <a:spcPts val="5529"/>
              </a:lnSpc>
            </a:pPr>
            <a:endParaRPr lang="en-US" sz="2400">
              <a:solidFill>
                <a:srgbClr val="F5F2F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38800" y="3778338"/>
            <a:ext cx="7010400" cy="1397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95"/>
              </a:lnSpc>
              <a:spcBef>
                <a:spcPct val="0"/>
              </a:spcBef>
            </a:pPr>
            <a:r>
              <a:rPr lang="en-US" sz="9600" dirty="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THANKYOU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518</Words>
  <Application>Microsoft Office PowerPoint</Application>
  <PresentationFormat>Custom</PresentationFormat>
  <Paragraphs>55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Open Sauce SemiBold</vt:lpstr>
      <vt:lpstr>Aptos</vt:lpstr>
      <vt:lpstr>Ovo</vt:lpstr>
      <vt:lpstr>Gagalin</vt:lpstr>
      <vt:lpstr>Lato</vt:lpstr>
      <vt:lpstr>Open Sauce Bold</vt:lpstr>
      <vt:lpstr>Arial</vt:lpstr>
      <vt:lpstr>Lato Bold</vt:lpstr>
      <vt:lpstr>Open Sauce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title here</dc:title>
  <cp:lastModifiedBy>diyagupta0702@gmail.com</cp:lastModifiedBy>
  <cp:revision>3</cp:revision>
  <dcterms:created xsi:type="dcterms:W3CDTF">2006-08-16T00:00:00Z</dcterms:created>
  <dcterms:modified xsi:type="dcterms:W3CDTF">2025-01-26T14:49:45Z</dcterms:modified>
  <dc:identifier>DAGdLwml1N0</dc:identifier>
</cp:coreProperties>
</file>